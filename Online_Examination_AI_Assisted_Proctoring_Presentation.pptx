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7772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3BD3E0"/>
                </a:solidFill>
                <a:latin typeface="Aptos"/>
              </a:rPr>
              <a:t>ONLINE EXAMINATION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&amp; AI-ASSISTED PROCTORING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8229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B1BED7"/>
                </a:solidFill>
                <a:latin typeface="Aptos"/>
              </a:rPr>
              <a:t>A secure web-based examination and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731520"/>
            <a:ext cx="914400" cy="914400"/>
          </a:xfrm>
          <a:prstGeom prst="ellipse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0" y="1554480"/>
            <a:ext cx="502920" cy="502920"/>
          </a:xfrm>
          <a:prstGeom prst="ellipse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920240"/>
            <a:ext cx="320040" cy="320040"/>
          </a:xfrm>
          <a:prstGeom prst="ellipse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0" y="2743200"/>
            <a:ext cx="731520" cy="731520"/>
          </a:xfrm>
          <a:prstGeom prst="ellipse">
            <a:avLst/>
          </a:prstGeom>
          <a:solidFill>
            <a:srgbClr val="46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7899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Presented by: M. Sai Ajith Reddy  |  P. Likith Kumar  |  P. Rithwik Rao</a:t>
            </a:r>
          </a:p>
          <a:p>
            <a:pPr algn="l"/>
            <a:r>
              <a:rPr sz="1200">
                <a:solidFill>
                  <a:srgbClr val="B1BED7"/>
                </a:solidFill>
                <a:latin typeface="Aptos"/>
              </a:rPr>
              <a:t>Project Guide / Faculty: Dr. Khaja Shareef  |  Team 7  |  Section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Why combine online examinations with assisted monitoring?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429768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55648"/>
            <a:ext cx="54864" cy="4078224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4892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AE4E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4873752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• Remote supervision can be difficult.
• Manual monitoring can be resource-intensive.
• Exam, submission, and review information may be scattered across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57800" cy="429768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55648"/>
            <a:ext cx="54864" cy="4078224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01368"/>
            <a:ext cx="4892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3BD3E0"/>
                </a:solidFill>
                <a:latin typeface="Aptos"/>
              </a:rPr>
              <a:t>OUR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12848"/>
            <a:ext cx="4873752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• Provide registration, login, and scheduled exams.
• Support timed attempts, submissions, and results.
• Detect selected exam-environment events using browser-based AI.
• Enable administrators to review records and unlock requests.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Student, administrator, and proctoring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429768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55648"/>
            <a:ext cx="54864" cy="4078224"/>
          </a:xfrm>
          <a:prstGeom prst="rect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2B68EB"/>
                </a:solidFill>
                <a:latin typeface="Aptos"/>
              </a:rPr>
              <a:t>STUDENT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3136392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Register / log in
• View available exams
• Attempt timed exams
• Navigate and answer questions
• Submit and view results
• Request unlock when applicable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429768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55648"/>
            <a:ext cx="54864" cy="4078224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ADMIN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36392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Manage students
• Create/manage exams
• Manage questions
• Review submissions/results
• Review proctoring indicators
• Approve unlock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429768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55648"/>
            <a:ext cx="54864" cy="4078224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0136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AE4E"/>
                </a:solidFill>
                <a:latin typeface="Aptos"/>
              </a:rPr>
              <a:t>PROCTORING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12848"/>
            <a:ext cx="3136392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Browser webcam access
• Person / phone detection
• Tab visibility monitoring
• Violation logging
• Rule-based risk indicator
• Human/admin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1d5410b-b57c-4a4e-b101-cc2b4c7ce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45720"/>
            <a:ext cx="1014984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Account validation and protected API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828800"/>
            <a:ext cx="658368" cy="658368"/>
          </a:xfrm>
          <a:prstGeom prst="ellipse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6583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3BD3E0"/>
                </a:solidFill>
                <a:latin typeface="Aptos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Validate input, hash password with bcrypt, and save user record.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148840"/>
            <a:ext cx="914400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14800" y="1828800"/>
            <a:ext cx="658368" cy="658368"/>
          </a:xfrm>
          <a:prstGeom prst="ellipse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6583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3BD3E0"/>
                </a:solidFill>
                <a:latin typeface="Aptos"/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5468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Find account and verify the stored password hash.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2148840"/>
            <a:ext cx="914400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040880" y="1828800"/>
            <a:ext cx="658368" cy="658368"/>
          </a:xfrm>
          <a:prstGeom prst="ellipse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011680"/>
            <a:ext cx="6583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3BD3E0"/>
                </a:solidFill>
                <a:latin typeface="Aptos"/>
              </a:rPr>
              <a:t>Issue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5468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Return a signed token containing user identity and role.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3840" y="2148840"/>
            <a:ext cx="914400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966960" y="1828800"/>
            <a:ext cx="658368" cy="658368"/>
          </a:xfrm>
          <a:prstGeom prst="ellipse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011680"/>
            <a:ext cx="6583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97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3BD3E0"/>
                </a:solidFill>
                <a:latin typeface="Aptos"/>
              </a:rPr>
              <a:t>Protected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54680"/>
            <a:ext cx="21488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ptos"/>
              </a:rPr>
              <a:t>Frontend sends Bearer token; FastAPI validates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7899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B1BED7"/>
                </a:solidFill>
                <a:latin typeface="Aptos"/>
              </a:rPr>
              <a:t>Pydantic validates request data  •  .env stores configuration  •  CORS allows the configured frontend origin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Examination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From scheduled exam to server-calculated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874519" cy="868680"/>
          </a:xfrm>
          <a:prstGeom prst="roundRect">
            <a:avLst/>
          </a:prstGeom>
          <a:solidFill>
            <a:srgbClr val="172341"/>
          </a:solidFill>
          <a:ln>
            <a:solidFill>
              <a:srgbClr val="2B6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231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Select exam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578608"/>
            <a:ext cx="320041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148840"/>
            <a:ext cx="1874519" cy="868680"/>
          </a:xfrm>
          <a:prstGeom prst="roundRect">
            <a:avLst/>
          </a:prstGeom>
          <a:solidFill>
            <a:srgbClr val="172341"/>
          </a:solidFill>
          <a:ln>
            <a:solidFill>
              <a:srgbClr val="2B6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4231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Load questions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578608"/>
            <a:ext cx="320039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148840"/>
            <a:ext cx="1874519" cy="868680"/>
          </a:xfrm>
          <a:prstGeom prst="roundRect">
            <a:avLst/>
          </a:prstGeom>
          <a:solidFill>
            <a:srgbClr val="172341"/>
          </a:solidFill>
          <a:ln>
            <a:solidFill>
              <a:srgbClr val="2B6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4231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Attempt + timer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578608"/>
            <a:ext cx="320039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2148840"/>
            <a:ext cx="1874519" cy="868680"/>
          </a:xfrm>
          <a:prstGeom prst="roundRect">
            <a:avLst/>
          </a:prstGeom>
          <a:solidFill>
            <a:srgbClr val="172341"/>
          </a:solidFill>
          <a:ln>
            <a:solidFill>
              <a:srgbClr val="2B6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4231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Submit answers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35440" y="2578608"/>
            <a:ext cx="320040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2148840"/>
            <a:ext cx="1874519" cy="868680"/>
          </a:xfrm>
          <a:prstGeom prst="roundRect">
            <a:avLst/>
          </a:prstGeom>
          <a:solidFill>
            <a:srgbClr val="172341"/>
          </a:solidFill>
          <a:ln>
            <a:solidFill>
              <a:srgbClr val="2B6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24231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Score + save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4754880" cy="14173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904488"/>
            <a:ext cx="54864" cy="1197864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950208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BACKEND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361688"/>
            <a:ext cx="4370832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FastAPI retrieves stored correct answers, evaluates responses, calculates marks, and stores the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794760"/>
            <a:ext cx="4754880" cy="14173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3904488"/>
            <a:ext cx="54864" cy="1197864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950208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3BD3E0"/>
                </a:solidFill>
                <a:latin typeface="Aptos"/>
              </a:rPr>
              <a:t>RESULT &amp;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4361688"/>
            <a:ext cx="4370832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Student sees the result; administrators can review submissions and related monitoring indicators.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AI-Assisted Proctoring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Browser-based detection and rule-driven event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965960" cy="1234440"/>
          </a:xfrm>
          <a:prstGeom prst="roundRect">
            <a:avLst/>
          </a:prstGeom>
          <a:solidFill>
            <a:srgbClr val="172341"/>
          </a:solidFill>
          <a:ln>
            <a:solidFill>
              <a:srgbClr val="32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084831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3BD3E0"/>
                </a:solidFill>
                <a:latin typeface="Aptos"/>
              </a:rPr>
              <a:t>Webcam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MediaDevices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487168"/>
            <a:ext cx="301752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6352" y="1874519"/>
            <a:ext cx="1965960" cy="1234440"/>
          </a:xfrm>
          <a:prstGeom prst="roundRect">
            <a:avLst/>
          </a:prstGeom>
          <a:solidFill>
            <a:srgbClr val="172341"/>
          </a:solidFill>
          <a:ln>
            <a:solidFill>
              <a:srgbClr val="32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2084831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3BD3E0"/>
                </a:solidFill>
                <a:latin typeface="Aptos"/>
              </a:rPr>
              <a:t>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487168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TensorFlow.js + COCO-SSD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82312" y="2487168"/>
            <a:ext cx="301752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1874519"/>
            <a:ext cx="1965960" cy="1234440"/>
          </a:xfrm>
          <a:prstGeom prst="roundRect">
            <a:avLst/>
          </a:prstGeom>
          <a:solidFill>
            <a:srgbClr val="172341"/>
          </a:solidFill>
          <a:ln>
            <a:solidFill>
              <a:srgbClr val="32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084831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3BD3E0"/>
                </a:solidFill>
                <a:latin typeface="Aptos"/>
              </a:rPr>
              <a:t>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487168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Person / cell phone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1464" y="2487168"/>
            <a:ext cx="301752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34656" y="1874519"/>
            <a:ext cx="1965960" cy="1234440"/>
          </a:xfrm>
          <a:prstGeom prst="roundRect">
            <a:avLst/>
          </a:prstGeom>
          <a:solidFill>
            <a:srgbClr val="172341"/>
          </a:solidFill>
          <a:ln>
            <a:solidFill>
              <a:srgbClr val="32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084831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3BD3E0"/>
                </a:solidFill>
                <a:latin typeface="Aptos"/>
              </a:rP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487168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Thresholds, grace period, cooldown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0616" y="2487168"/>
            <a:ext cx="301752" cy="0"/>
          </a:xfrm>
          <a:prstGeom prst="line">
            <a:avLst/>
          </a:prstGeom>
          <a:ln w="31750">
            <a:solidFill>
              <a:srgbClr val="3B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93808" y="1874519"/>
            <a:ext cx="1965960" cy="1234440"/>
          </a:xfrm>
          <a:prstGeom prst="roundRect">
            <a:avLst/>
          </a:prstGeom>
          <a:solidFill>
            <a:srgbClr val="172341"/>
          </a:solidFill>
          <a:ln>
            <a:solidFill>
              <a:srgbClr val="32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084831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3BD3E0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487168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F5F8FF"/>
                </a:solidFill>
                <a:latin typeface="Aptos"/>
              </a:rPr>
              <a:t>Violation log + risk indicator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94760"/>
            <a:ext cx="5074920" cy="146304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04488"/>
            <a:ext cx="54864" cy="1243584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950208"/>
            <a:ext cx="47091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AE4E"/>
                </a:solidFill>
                <a:latin typeface="Aptos"/>
              </a:rPr>
              <a:t>BROWSER 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61688"/>
            <a:ext cx="4690872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The Page Visibility API helps detect when the exam tab becomes hidden.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074920" cy="146304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904488"/>
            <a:ext cx="54864" cy="1243584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950208"/>
            <a:ext cx="47091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IMPORTANT LIMITATION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361688"/>
            <a:ext cx="4690872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Detections are indicators, not definitive proof of cheating. False positives are possible; admin review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Backend &amp; Data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FastAPI routes organize the application by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3484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09928"/>
            <a:ext cx="54864" cy="4215383"/>
          </a:xfrm>
          <a:prstGeom prst="rect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892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2B68EB"/>
                </a:solidFill>
                <a:latin typeface="Aptos"/>
              </a:rPr>
              <a:t>API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73752" cy="3749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Authentication
POST /api/auth/register  •  POST /api/auth/login
Exams &amp; questions
/api/exams/  •  /api/questions/
Submissions &amp; requests
/api/submissions/  •  /api/requests/
Protected endpoints validate the authenticated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43484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09928"/>
            <a:ext cx="54864" cy="4215383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55648"/>
            <a:ext cx="4892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MONGODB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67128"/>
            <a:ext cx="4873752" cy="3749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users — account and role information
exams — exam settings and schedule
questions — prompt, options, answer key
submissions — answers, scores, timestamps, monitoring indicators
requests — unlock request status and review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Benefits,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77240" cy="50292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1BED7"/>
                </a:solidFill>
                <a:latin typeface="Aptos"/>
              </a:rPr>
              <a:t>A practical foundation for online assessment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1BED7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43891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09928"/>
            <a:ext cx="54864" cy="4169663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136392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Centralized exam workflow
• Role-based experiences
• Backend-side scoring
• Browser-based monitoring
• Admin review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43891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09928"/>
            <a:ext cx="54864" cy="4169663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5564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AE4E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36392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Object detection can be imperfect
• Camera needs user permission
• Browser monitoring isn't foolproof
• Risk score is rule-based
• No facial identity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43891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09928"/>
            <a:ext cx="54864" cy="4169663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55648"/>
            <a:ext cx="3154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3BD3E0"/>
                </a:solidFill>
                <a:latin typeface="Aptos"/>
              </a:rP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67128"/>
            <a:ext cx="3136392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• Stronger identity verification
• Improved temporal/head-pose analysis
• Audit logs and richer analytics
• More robust admin review
• Deployment hardening &amp;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4572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BD3E0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804672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One platform.
A complete exam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B1BED7"/>
                </a:solidFill>
                <a:latin typeface="Aptos"/>
              </a:rPr>
              <a:t>React frontend + FastAPI backend + MongoDB + browser-based AI-assisted proctoring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69080"/>
            <a:ext cx="3246120" cy="11887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178808"/>
            <a:ext cx="54864" cy="969264"/>
          </a:xfrm>
          <a:prstGeom prst="rect">
            <a:avLst/>
          </a:prstGeom>
          <a:solidFill>
            <a:srgbClr val="2B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2B68EB"/>
                </a:solidFill>
                <a:latin typeface="Aptos"/>
              </a:rPr>
              <a:t>MANAGE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636008"/>
            <a:ext cx="286207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Users, exams,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069080"/>
            <a:ext cx="3246120" cy="11887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4178808"/>
            <a:ext cx="54864" cy="969264"/>
          </a:xfrm>
          <a:prstGeom prst="rect">
            <a:avLst/>
          </a:prstGeom>
          <a:solidFill>
            <a:srgbClr val="3B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3BD3E0"/>
                </a:solidFill>
                <a:latin typeface="Aptos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4636008"/>
            <a:ext cx="286207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Selected exam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69080"/>
            <a:ext cx="3246120" cy="1188720"/>
          </a:xfrm>
          <a:prstGeom prst="roundRect">
            <a:avLst/>
          </a:prstGeom>
          <a:solidFill>
            <a:srgbClr val="172341"/>
          </a:solidFill>
          <a:ln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4178808"/>
            <a:ext cx="54864" cy="969264"/>
          </a:xfrm>
          <a:prstGeom prst="rect">
            <a:avLst/>
          </a:prstGeom>
          <a:solidFill>
            <a:srgbClr val="43B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3BE8B"/>
                </a:solidFill>
                <a:latin typeface="Aptos"/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636008"/>
            <a:ext cx="286207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Submit, score,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